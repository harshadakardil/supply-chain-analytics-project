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87" d="100"/>
          <a:sy n="87" d="100"/>
        </p:scale>
        <p:origin x="9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9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Delay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6D25-4454-BC32-B9AFD7CD9A8B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6D25-4454-BC32-B9AFD7CD9A8B}"/>
              </c:ext>
            </c:extLst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6D25-4454-BC32-B9AFD7CD9A8B}"/>
              </c:ext>
            </c:extLst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6D25-4454-BC32-B9AFD7CD9A8B}"/>
              </c:ext>
            </c:extLst>
          </c:dPt>
          <c:dPt>
            <c:idx val="4"/>
            <c:invertIfNegative val="0"/>
            <c:bubble3D val="0"/>
            <c:spPr>
              <a:solidFill>
                <a:srgbClr val="B91C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6D25-4454-BC32-B9AFD7CD9A8B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DHL</c:v>
                </c:pt>
                <c:pt idx="1">
                  <c:v>FedEx</c:v>
                </c:pt>
                <c:pt idx="2">
                  <c:v>UPS</c:v>
                </c:pt>
                <c:pt idx="3">
                  <c:v>Blue Dart</c:v>
                </c:pt>
                <c:pt idx="4">
                  <c:v>XpressBees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1.35</c:v>
                </c:pt>
                <c:pt idx="1">
                  <c:v>1.58</c:v>
                </c:pt>
                <c:pt idx="2">
                  <c:v>2.14</c:v>
                </c:pt>
                <c:pt idx="3">
                  <c:v>2.34</c:v>
                </c:pt>
                <c:pt idx="4">
                  <c:v>4.13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D25-4454-BC32-B9AFD7CD9A8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0525-4490-895A-2F82DE5AFED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525-4490-895A-2F82DE5AFEDA}"/>
              </c:ext>
            </c:extLst>
          </c:dPt>
          <c:dPt>
            <c:idx val="2"/>
            <c:invertIfNegative val="0"/>
            <c:bubble3D val="0"/>
            <c:spPr>
              <a:solidFill>
                <a:srgbClr val="B4530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525-4490-895A-2F82DE5AFED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F172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Moving Avg</c:v>
                </c:pt>
                <c:pt idx="1">
                  <c:v>Exp. Smoothing</c:v>
                </c:pt>
                <c:pt idx="2">
                  <c:v>Target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76.7</c:v>
                </c:pt>
                <c:pt idx="1">
                  <c:v>83.5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525-4490-895A-2F82DE5AFE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786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8753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Shape 1"/>
          <p:cNvSpPr/>
          <p:nvPr/>
        </p:nvSpPr>
        <p:spPr>
          <a:xfrm>
            <a:off x="7863840" y="640080"/>
            <a:ext cx="914400" cy="914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Shape 2"/>
          <p:cNvSpPr/>
          <p:nvPr/>
        </p:nvSpPr>
        <p:spPr>
          <a:xfrm>
            <a:off x="8183880" y="502920"/>
            <a:ext cx="146304" cy="146304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7635240" y="566928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822960" y="11430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/ LOGISTICS   •   CAPSTONE ANALYTICS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4813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Supply Chain Intelligence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Optimizing Delivery Performance and Demand Forecasting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41248" y="3035808"/>
            <a:ext cx="1828800" cy="3200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822960" y="33101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511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Harshada Kardile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87705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June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33101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 ·  SQL  ·  Power BI  ·  Statistical Analysis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Objectives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e-commerce retailer faces a severe on-time delivery shortfall, rising logistics costs, and frequent stockouts during peak demand.</a:t>
            </a:r>
            <a:endParaRPr lang="en-US" sz="1250" dirty="0"/>
          </a:p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tasked the analytics team with finding the key drivers behind these issues using the full order, supplier, and inventory dataset.</a:t>
            </a:r>
            <a:endParaRPr lang="en-US" sz="1250" dirty="0"/>
          </a:p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10,000 orders · 15 suppliers · 6,000 monthly inventory records · 200 SKUs — analyzed end-to-end in Excel, SQL, and Power BI.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257800" y="1188720"/>
            <a:ext cx="342900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5349240" y="118872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-15%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236208" y="11887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delivery delays within two quarters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257800" y="1847088"/>
            <a:ext cx="342900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5349240" y="184708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-10%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236208" y="18470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logistics cost per order within two quarters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257800" y="2505456"/>
            <a:ext cx="342900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5349240" y="250545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236208" y="25054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Stockouts during peak demand periods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310128"/>
            <a:ext cx="822960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640080" y="34198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USE CASES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71246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performance analysis by carrier, route &amp; category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00600" y="371246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demand forecasting (4–8 week horizon)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005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segmentation by lead time, defect rate &amp; cost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00600" y="4005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attribution by region, carrier &amp; product category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297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analysis of delay drivers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Problem &amp; Stakeholder Map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97840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r>
              <a:rPr lang="en-IN" sz="1100" dirty="0"/>
              <a:t>Business Problem Statement: An e-commerce retailer is experiencing a 23% on-time delivery failure rate, rising logistics costs, and frequent stockouts during peak demand — impacting customer satisfaction and operational efficiency. </a:t>
            </a:r>
          </a:p>
          <a:p>
            <a:r>
              <a:rPr lang="en-IN" sz="1100" dirty="0"/>
              <a:t>AS-IS Pain Points: - On-Time Delivery Rate = 16.48% (Target ≥ 90%) - Logistics Cost per Order = $325.52 (Reduce by 10%) - Stockout Rate = 44.28% (Target ≤ 3%) - No centralized KPI monitoring system </a:t>
            </a:r>
          </a:p>
          <a:p>
            <a:r>
              <a:rPr lang="en-IN" sz="1100" dirty="0"/>
              <a:t>Stakeholder Analysis:</a:t>
            </a:r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3984498"/>
            <a:ext cx="8229600" cy="4503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9" name="Shape 17"/>
          <p:cNvSpPr/>
          <p:nvPr/>
        </p:nvSpPr>
        <p:spPr>
          <a:xfrm>
            <a:off x="457200" y="3954780"/>
            <a:ext cx="82296" cy="53949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1" name="Text 19"/>
          <p:cNvSpPr/>
          <p:nvPr/>
        </p:nvSpPr>
        <p:spPr>
          <a:xfrm>
            <a:off x="685800" y="4091940"/>
            <a:ext cx="7863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1100" dirty="0"/>
              <a:t>Requirements elicited from 5 stakeholder groups — 12 business requirements documented in RTM.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69682"/>
              </p:ext>
            </p:extLst>
          </p:nvPr>
        </p:nvGraphicFramePr>
        <p:xfrm>
          <a:off x="457200" y="2194560"/>
          <a:ext cx="8229600" cy="1591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1" b="1" dirty="0">
                          <a:solidFill>
                            <a:srgbClr val="FFFFFF"/>
                          </a:solidFill>
                          <a:latin typeface="Trebuchet MS"/>
                        </a:rPr>
                        <a:t>Stakeholder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1" b="1" dirty="0">
                          <a:solidFill>
                            <a:srgbClr val="FFFFFF"/>
                          </a:solidFill>
                          <a:latin typeface="Trebuchet MS"/>
                        </a:rPr>
                        <a:t>Role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1" b="1" dirty="0">
                          <a:solidFill>
                            <a:srgbClr val="FFFFFF"/>
                          </a:solidFill>
                          <a:latin typeface="Trebuchet MS"/>
                        </a:rPr>
                        <a:t>Data Need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1" b="1" dirty="0">
                          <a:solidFill>
                            <a:srgbClr val="FFFFFF"/>
                          </a:solidFill>
                          <a:latin typeface="Trebuchet MS"/>
                        </a:rPr>
                        <a:t>Interest Level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347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Leadership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Decision Maker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KPI Overview Dashboard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347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Operations Team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Primary User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Carrier &amp; Region Performance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347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Procurement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Primary User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Supplier Segmentation &amp;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3347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Inventory 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Secondary User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Demand Forecast &amp; Stockouts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347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Finance Team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Secondary User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Cost Attribution by Region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7" dirty="0">
                          <a:solidFill>
                            <a:srgbClr val="334155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REQUIREMENTS &amp; TRACEABILITY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Requirements &amp; Acceptance Criteria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5588046"/>
              </p:ext>
            </p:extLst>
          </p:nvPr>
        </p:nvGraphicFramePr>
        <p:xfrm>
          <a:off x="457200" y="1444752"/>
          <a:ext cx="8229600" cy="2793492"/>
        </p:xfrm>
        <a:graphic>
          <a:graphicData uri="http://schemas.openxmlformats.org/drawingml/2006/table">
            <a:tbl>
              <a:tblPr/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40" b="1" dirty="0">
                          <a:solidFill>
                            <a:srgbClr val="FFFFFF"/>
                          </a:solidFill>
                          <a:latin typeface="Trebuchet MS"/>
                        </a:rPr>
                        <a:t>Req ID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40" b="1" dirty="0">
                          <a:solidFill>
                            <a:srgbClr val="FFFFFF"/>
                          </a:solidFill>
                          <a:latin typeface="Trebuchet MS"/>
                        </a:rPr>
                        <a:t>Business Requirement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40" b="1" dirty="0">
                          <a:solidFill>
                            <a:srgbClr val="FFFFFF"/>
                          </a:solidFill>
                          <a:latin typeface="Trebuchet MS"/>
                        </a:rPr>
                        <a:t>Acceptance Criteria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40" b="1" dirty="0">
                          <a:solidFill>
                            <a:srgbClr val="FFFFFF"/>
                          </a:solidFill>
                          <a:latin typeface="Trebuchet MS"/>
                        </a:rPr>
                        <a:t>Priority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Reduce delivery delays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Avg Delay ≤ 1.5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Improve on-time delivery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On-Time Rate ≥ 90%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Reduce logistics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Cost reduced by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Improve inventory fill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Fill Rate ≥ 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Reduce stockout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Stockout Rate ≤ 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Reduce supplier lead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Lead Time ≤ 7 days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14564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Reduce order defect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Defect Rate ≤ 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355944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Forecast demand accurately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MAPE ≤ 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072482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Identify worst carriers by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Top 2 per region ranked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167169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Segment suppliers by 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3 tiers clearly defined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302618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Find root cause of delays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Key drivers identified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5047347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BR12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Deliver actionable recommendations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5-7 prioritized 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819" dirty="0">
                          <a:solidFill>
                            <a:srgbClr val="334155"/>
                          </a:solidFill>
                          <a:latin typeface="Calibri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54864" marT="13716" marB="13716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351877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457200" y="4370832"/>
            <a:ext cx="8229600" cy="329184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 wrap="square" lIns="146304" tIns="41148" rIns="109728" bIns="2743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b="1" dirty="0">
                <a:solidFill>
                  <a:srgbClr val="15803D"/>
                </a:solidFill>
                <a:latin typeface="Calibri"/>
              </a:rPr>
              <a:t>All 12 requirements fully traced in RTM — mapped to KPI, technique, tool, and delivery location.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Requirements metadata"/>
          <p:cNvSpPr txBox="1"/>
          <p:nvPr/>
        </p:nvSpPr>
        <p:spPr>
          <a:xfrm>
            <a:off x="457200" y="1115568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0D9488"/>
                </a:solidFill>
                <a:latin typeface="Trebuchet MS"/>
              </a:rPr>
              <a:t>PROJECT  </a:t>
            </a:r>
            <a:r>
              <a:rPr sz="900" b="0" dirty="0">
                <a:solidFill>
                  <a:srgbClr val="334155"/>
                </a:solidFill>
                <a:latin typeface="Calibri"/>
              </a:rPr>
              <a:t>Supply Chain Intelligence     </a:t>
            </a:r>
            <a:r>
              <a:rPr sz="800" b="1" dirty="0">
                <a:solidFill>
                  <a:srgbClr val="0D9488"/>
                </a:solidFill>
                <a:latin typeface="Trebuchet MS"/>
              </a:rPr>
              <a:t>REQUIREMENT SOURCE  </a:t>
            </a:r>
            <a:r>
              <a:rPr sz="900" b="0" dirty="0">
                <a:solidFill>
                  <a:srgbClr val="334155"/>
                </a:solidFill>
                <a:latin typeface="Calibri"/>
              </a:rPr>
              <a:t>Business Brief + Stakeholder Analysis     </a:t>
            </a:r>
            <a:r>
              <a:rPr sz="800" b="1" dirty="0">
                <a:solidFill>
                  <a:srgbClr val="0D9488"/>
                </a:solidFill>
                <a:latin typeface="Trebuchet MS"/>
              </a:rPr>
              <a:t>TOTAL  </a:t>
            </a:r>
            <a:r>
              <a:rPr sz="900" b="1" dirty="0">
                <a:solidFill>
                  <a:srgbClr val="334155"/>
                </a:solidFill>
                <a:latin typeface="Calibri"/>
              </a:rPr>
              <a:t>12</a:t>
            </a:r>
          </a:p>
        </p:txBody>
      </p:sp>
      <p:sp>
        <p:nvSpPr>
          <p:cNvPr id="6" name="Requirements metadata"/>
          <p:cNvSpPr txBox="1"/>
          <p:nvPr/>
        </p:nvSpPr>
        <p:spPr>
          <a:xfrm>
            <a:off x="457200" y="1115568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dirty="0">
                <a:solidFill>
                  <a:srgbClr val="0D9488"/>
                </a:solidFill>
                <a:latin typeface="Trebuchet MS"/>
              </a:rPr>
              <a:t>PROJECT  </a:t>
            </a:r>
            <a:r>
              <a:rPr sz="900" b="0" dirty="0">
                <a:solidFill>
                  <a:srgbClr val="334155"/>
                </a:solidFill>
                <a:latin typeface="Calibri"/>
              </a:rPr>
              <a:t>Supply Chain Intelligence     </a:t>
            </a:r>
            <a:r>
              <a:rPr sz="800" b="1" dirty="0">
                <a:solidFill>
                  <a:srgbClr val="0D9488"/>
                </a:solidFill>
                <a:latin typeface="Trebuchet MS"/>
              </a:rPr>
              <a:t>REQUIREMENT SOURCE  </a:t>
            </a:r>
            <a:r>
              <a:rPr sz="900" b="0" dirty="0">
                <a:solidFill>
                  <a:srgbClr val="334155"/>
                </a:solidFill>
                <a:latin typeface="Calibri"/>
              </a:rPr>
              <a:t>Business Brief + Stakeholder Analysis     </a:t>
            </a:r>
            <a:r>
              <a:rPr sz="800" b="1" dirty="0">
                <a:solidFill>
                  <a:srgbClr val="0D9488"/>
                </a:solidFill>
                <a:latin typeface="Trebuchet MS"/>
              </a:rPr>
              <a:t>TOTAL  </a:t>
            </a:r>
            <a:r>
              <a:rPr sz="900" b="1" dirty="0">
                <a:solidFill>
                  <a:srgbClr val="3341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 Findings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685800" y="1545336"/>
            <a:ext cx="310896" cy="310896"/>
          </a:xfrm>
          <a:prstGeom prst="ellipse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685800" y="1545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Completeness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1947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missing values across Order_ID, dates, carrier, region, cost, or delay fields in the cleaned Orders table.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" name="Shape 8"/>
          <p:cNvSpPr/>
          <p:nvPr/>
        </p:nvSpPr>
        <p:spPr>
          <a:xfrm>
            <a:off x="4892040" y="1545336"/>
            <a:ext cx="310896" cy="310896"/>
          </a:xfrm>
          <a:prstGeom prst="ellipse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4892040" y="1545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21808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Uniqueness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892040" y="194767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 is unique across all 10,000 rows; no duplicate transactions detected.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0720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5" name="Shape 13"/>
          <p:cNvSpPr/>
          <p:nvPr/>
        </p:nvSpPr>
        <p:spPr>
          <a:xfrm>
            <a:off x="685800" y="3026664"/>
            <a:ext cx="310896" cy="310896"/>
          </a:xfrm>
          <a:prstGeom prst="ellipse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6" name="Text 14"/>
          <p:cNvSpPr/>
          <p:nvPr/>
        </p:nvSpPr>
        <p:spPr>
          <a:xfrm>
            <a:off x="68580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5568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Consistency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85800" y="34290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names (8 distinct) and region labels (7 distinct) are standardized with no spelling variants.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807208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0" name="Shape 18"/>
          <p:cNvSpPr/>
          <p:nvPr/>
        </p:nvSpPr>
        <p:spPr>
          <a:xfrm>
            <a:off x="4892040" y="3026664"/>
            <a:ext cx="310896" cy="31089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1" name="Text 19"/>
          <p:cNvSpPr/>
          <p:nvPr/>
        </p:nvSpPr>
        <p:spPr>
          <a:xfrm>
            <a:off x="4892040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321808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Schema mismatch found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892040" y="34290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SQL inventory schema did not match the final cleaned Inventory columns; corrected before submission.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 Analysis Highlights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Calculated Columns Added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517904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Delay Days — actual vs. promised delivery date</a:t>
            </a:r>
            <a:endParaRPr lang="en-US" sz="1150" dirty="0"/>
          </a:p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— purchase order to goods receipt, by supplier</a:t>
            </a:r>
            <a:endParaRPr lang="en-US" sz="1150" dirty="0"/>
          </a:p>
          <a:p>
            <a:pPr marL="177800" indent="-177800" algn="l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Unit Shipped — shipping cost ÷ order quantity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Pivot Table Summaries Built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89504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 and order count by carrier</a:t>
            </a:r>
            <a:endParaRPr lang="en-US" sz="1150" dirty="0"/>
          </a:p>
          <a:p>
            <a:pPr marL="177800" indent="-177800" algn="l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value and shipping cost by region &amp; carrier</a:t>
            </a:r>
            <a:endParaRPr lang="en-US" sz="1150" dirty="0"/>
          </a:p>
          <a:p>
            <a:pPr marL="177800" indent="-177800" algn="l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totals by product category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pivot detail available in the Pivot_Tables sheet of the cleaned workbook.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0" y="1234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Delay by Carrier (days)</a:t>
            </a:r>
            <a:endParaRPr lang="en-US" sz="1250" dirty="0"/>
          </a:p>
        </p:txBody>
      </p:sp>
      <p:graphicFrame>
        <p:nvGraphicFramePr>
          <p:cNvPr id="10" name="Chart 0" descr="Chart"/>
          <p:cNvGraphicFramePr/>
          <p:nvPr>
            <p:extLst>
              <p:ext uri="{D42A27DB-BD31-4B8C-83A1-F6EECF244321}">
                <p14:modId xmlns:p14="http://schemas.microsoft.com/office/powerpoint/2010/main" val="2788792074"/>
              </p:ext>
            </p:extLst>
          </p:nvPr>
        </p:nvGraphicFramePr>
        <p:xfrm>
          <a:off x="4617720" y="1508760"/>
          <a:ext cx="41605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4617720" y="3977640"/>
            <a:ext cx="41605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Text 9"/>
          <p:cNvSpPr/>
          <p:nvPr/>
        </p:nvSpPr>
        <p:spPr>
          <a:xfrm>
            <a:off x="4754880" y="397764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 spans </a:t>
            </a: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47.9% (DHL)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to </a:t>
            </a: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 (XpressBees)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Analysis Highlights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703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" cy="9875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658368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Extraction Queries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61848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filtered by date range, carrier, and region to support targeted root-cause checks.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703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" cy="9875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658368" y="2423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Aggregation Queries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271576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performance: shipments, avg delay, delay std. dev., on-time %, and unit shipping cost — grouped by carrier.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3703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82296" cy="9875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 Functions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381304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DENSE_RANK() flags the 2 worst carriers per region; rolling 3-month AVG() tracks SKU demand trend.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9120" y="12344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Query — Regional Carrier Ranking (DENSE_RANK)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9120" y="1536192"/>
            <a:ext cx="4297680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8" name="Text 16"/>
          <p:cNvSpPr/>
          <p:nvPr/>
        </p:nvSpPr>
        <p:spPr>
          <a:xfrm>
            <a:off x="4572000" y="1664208"/>
            <a:ext cx="4023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RegionalCarrierPerformance AS (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region, carrier,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COUNT(order_id) AS shipment_volume,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ROUND(AVG(delivery_delay_days),2)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AS average_transit_delay,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DENSE_RANK() OVER (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PARTITION BY region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ORDER BY AVG(delivery_delay_days) DESC)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AS performance_rank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orders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 BY region, carrier )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RegionalCarrierPerformance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performance_rank &lt;= 2</a:t>
            </a:r>
            <a:endParaRPr lang="en-US" sz="9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950" dirty="0">
                <a:solidFill>
                  <a:srgbClr val="99F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region, performance_rank;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ANALYTICS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04672" y="777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Methods Implemented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35331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required by the project brief — all three completed.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2331720" cy="2606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233172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1024128" y="20848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24128" y="2359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A. Delivery Delay Regression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3054096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Linear Regression predicting Delivery_Delay_Days from weight, distance, carrier, category, season &amp; warehouse.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331720" cy="2606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33172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3584448" y="20848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84448" y="2359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B. Time-Series Demand Forecasting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84448" y="3054096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 and Exponential Smoothing applied to the top-20 SKUs by total units sold.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920240"/>
            <a:ext cx="2331720" cy="2606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" name="Shape 15"/>
          <p:cNvSpPr/>
          <p:nvPr/>
        </p:nvSpPr>
        <p:spPr>
          <a:xfrm>
            <a:off x="5943600" y="1920240"/>
            <a:ext cx="2331720" cy="54864"/>
          </a:xfrm>
          <a:prstGeom prst="rect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" name="Text 16"/>
          <p:cNvSpPr/>
          <p:nvPr/>
        </p:nvSpPr>
        <p:spPr>
          <a:xfrm>
            <a:off x="6144768" y="20848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ALSO COMPLETED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44768" y="23591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C. Supplier &amp; Route Segmentation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44768" y="3054096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clustering across lead time, defect rate &amp; fill rate — a 3rd method beyond the 2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ANALYTICS · REGRESSION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 Model — Results &amp;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(model fit)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32888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8" name="Text 6"/>
          <p:cNvSpPr/>
          <p:nvPr/>
        </p:nvSpPr>
        <p:spPr>
          <a:xfrm>
            <a:off x="2532888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532888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08576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4608576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 days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08576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84264" y="1188720"/>
            <a:ext cx="1938528" cy="84124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4" name="Text 12"/>
          <p:cNvSpPr/>
          <p:nvPr/>
        </p:nvSpPr>
        <p:spPr>
          <a:xfrm>
            <a:off x="6684264" y="128016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1.41 days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84264" y="1664208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Strongest Delay Drivers (vs. Aramex baseline carrier)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05456"/>
          <a:ext cx="8229600" cy="180136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Variable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Effect on Delay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Carrier: DHL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−1.74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Significantly faster than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Carrier: FedEx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−1.51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Significantly faster than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Carrier: XpressBees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+1.05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Significantly slower than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 Weight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+0.026 days/kg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extra kg adds delay, all else equal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 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significant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0.40 — distance alone does not predict delay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choice is the dominant driver of delay — far larger than weight or distance.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ANALYTICS · FORECASTING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Forecasting — Results &amp; Evaluation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SKUs (by total units sold) forecasted using a 3-month Moving Average and Exponential Smoothing (α = 0.30).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Avg MAPE by Method vs. Target</a:t>
            </a:r>
            <a:endParaRPr lang="en-US" sz="1250" dirty="0"/>
          </a:p>
        </p:txBody>
      </p:sp>
      <p:graphicFrame>
        <p:nvGraphicFramePr>
          <p:cNvPr id="6" name="Chart 0" descr="Chart"/>
          <p:cNvGraphicFramePr/>
          <p:nvPr>
            <p:extLst>
              <p:ext uri="{D42A27DB-BD31-4B8C-83A1-F6EECF244321}">
                <p14:modId xmlns:p14="http://schemas.microsoft.com/office/powerpoint/2010/main" val="2326805536"/>
              </p:ext>
            </p:extLst>
          </p:nvPr>
        </p:nvGraphicFramePr>
        <p:xfrm>
          <a:off x="365760" y="1874520"/>
          <a:ext cx="411480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4709160" y="1572768"/>
            <a:ext cx="3977640" cy="2971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8" name="Text 5"/>
          <p:cNvSpPr/>
          <p:nvPr/>
        </p:nvSpPr>
        <p:spPr>
          <a:xfrm>
            <a:off x="4892040" y="1700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finding, not a hidden failure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892040" y="2029968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fall well short of the 15% MAPE target — reported transparently rather than tuned to look better.</a:t>
            </a:r>
            <a:endParaRPr lang="en-US" sz="1100" dirty="0"/>
          </a:p>
          <a:p>
            <a:pPr marL="177800" indent="-177800" algn="l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SKU-level monthly demand is highly volatile and intermittent; simple time-series methods can't capture these swings.</a:t>
            </a:r>
            <a:endParaRPr lang="en-US" sz="1100" dirty="0"/>
          </a:p>
          <a:p>
            <a:pPr marL="177800" indent="-177800" algn="l"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near-term inventory should rely on safety stock and reorder points, not point forecasts alone.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Segmentation — Method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25296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suppliers standardized on four z-score features (Lead Time, Defect Rate, Fill Rate, Cost per Unit) so each weighs equally.</a:t>
            </a:r>
            <a:endParaRPr lang="en-US" sz="1200" dirty="0"/>
          </a:p>
          <a:p>
            <a:pPr marL="177800" indent="-177800" algn="l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run by hand in Excel: seed centroids from risk-sorted suppliers, assign each to its nearest centroid, recompute, and repeat until stable.</a:t>
            </a:r>
            <a:endParaRPr lang="en-US" sz="1200" dirty="0"/>
          </a:p>
          <a:p>
            <a:pPr marL="177800" indent="-177800" algn="l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selected with the Elbow Method on Within-Cluster Sum of Squares (WCSS) — the sharp drop ends at K=3, so K=3 is retained: Preferred Partner, Under Watch, Critical.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880360"/>
            <a:ext cx="4572000" cy="169164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640080" y="2980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 K-MEANS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236976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K-Means, executed by hand in Excel (no Python / clustering libraries permitted). Centroids and assignments were iterated to convergence manually, and K=3 was confirmed with an elbow-method check on within-cluster sum of squares — every step auditable in the workbook.</a:t>
            </a:r>
            <a:endParaRPr lang="en-US" sz="1050" dirty="0"/>
          </a:p>
        </p:txBody>
      </p:sp>
      <p:sp>
        <p:nvSpPr>
          <p:cNvPr id="8" name="Elbow Header"/>
          <p:cNvSpPr/>
          <p:nvPr/>
        </p:nvSpPr>
        <p:spPr>
          <a:xfrm>
            <a:off x="5257800" y="122529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Elbow Method — WCSS</a:t>
            </a:r>
            <a:endParaRPr lang="en-US" sz="1300" dirty="0"/>
          </a:p>
        </p:txBody>
      </p:sp>
      <p:graphicFrame>
        <p:nvGraphicFramePr>
          <p:cNvPr id="9" name="WCS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895245"/>
              </p:ext>
            </p:extLst>
          </p:nvPr>
        </p:nvGraphicFramePr>
        <p:xfrm>
          <a:off x="5257800" y="1554480"/>
          <a:ext cx="3429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</a:rPr>
                        <a:t>K</a:t>
                      </a:r>
                    </a:p>
                  </a:txBody>
                  <a:tcPr marL="45720" marR="45720" marT="27432" marB="27432" anchor="ctr">
                    <a:lnB w="9525">
                      <a:solidFill>
                        <a:srgbClr val="CBD5E1"/>
                      </a:solidFill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</a:rPr>
                        <a:t>WCSS</a:t>
                      </a:r>
                    </a:p>
                  </a:txBody>
                  <a:tcPr marL="45720" marR="45720" marT="27432" marB="27432" anchor="ctr">
                    <a:lnB w="9525">
                      <a:solidFill>
                        <a:srgbClr val="CBD5E1"/>
                      </a:solidFill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1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15.4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2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8.7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</a:rPr>
                        <a:t>3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</a:rPr>
                        <a:t>4.3  ← elbow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2E8F0"/>
                      </a:solidFill>
                    </a:lnB>
                    <a:solidFill>
                      <a:srgbClr val="CCF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</a:rPr>
                        <a:t>3.9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Elbow Caption"/>
          <p:cNvSpPr/>
          <p:nvPr/>
        </p:nvSpPr>
        <p:spPr>
          <a:xfrm>
            <a:off x="5257800" y="326898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WCSS drop ends at K=3 (4.3); K=4 improves only to 3.9 — marginal. K=3 selected.</a:t>
            </a:r>
            <a:endParaRPr lang="en-US" sz="1000" dirty="0"/>
          </a:p>
        </p:txBody>
      </p:sp>
      <p:sp>
        <p:nvSpPr>
          <p:cNvPr id="11" name="Features Strip"/>
          <p:cNvSpPr/>
          <p:nvPr/>
        </p:nvSpPr>
        <p:spPr>
          <a:xfrm>
            <a:off x="5257800" y="3776472"/>
            <a:ext cx="3429000" cy="7315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  <p:txBody>
          <a:bodyPr wrap="square" lIns="118872" tIns="91440" rIns="118872" bIns="91440" rtlCol="0" anchor="t"/>
          <a:lstStyle/>
          <a:p>
            <a:pPr marL="0" indent="0" algn="l">
              <a:buNone/>
            </a:pPr>
            <a:r>
              <a:rPr lang="en-US" sz="900" b="1" spc="100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 FEATURES (Z-SCORED)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· Defect Rate · Fill Rate · Cost per Unit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Personas &amp; Recommendations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51760" cy="566928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594360" y="1234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Preferred Partner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" y="1901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SUPPLIERS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43230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Bosch India, Samsung Logistics, Godrej, Dabur, Asian Paints, Cipla Pharma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456432"/>
            <a:ext cx="2322576" cy="932688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731520" y="35295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3730752"/>
            <a:ext cx="212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order volume; candidates for long-term contracts.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64408" y="123444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4" name="Shape 12"/>
          <p:cNvSpPr/>
          <p:nvPr/>
        </p:nvSpPr>
        <p:spPr>
          <a:xfrm>
            <a:off x="3264408" y="1234440"/>
            <a:ext cx="2651760" cy="566928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3401568" y="1234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 Watch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1901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SUPPLIERS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29000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243230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Industries, Mahindra Logistics, Amazon Seller Svcs, ITC Agri-Business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29000" y="3456432"/>
            <a:ext cx="2322576" cy="932688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0" name="Text 18"/>
          <p:cNvSpPr/>
          <p:nvPr/>
        </p:nvSpPr>
        <p:spPr>
          <a:xfrm>
            <a:off x="3538728" y="35295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538728" y="3730752"/>
            <a:ext cx="212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monthly; set improvement checkpoints before renewal.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71616" y="1234440"/>
            <a:ext cx="2651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3" name="Shape 21"/>
          <p:cNvSpPr/>
          <p:nvPr/>
        </p:nvSpPr>
        <p:spPr>
          <a:xfrm>
            <a:off x="6071616" y="1234440"/>
            <a:ext cx="2651760" cy="566928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4" name="Text 22"/>
          <p:cNvSpPr/>
          <p:nvPr/>
        </p:nvSpPr>
        <p:spPr>
          <a:xfrm>
            <a:off x="6208776" y="1234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236208" y="1901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SUPPLIERS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36208" y="22128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36208" y="243230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Supply Co., Flipkart Wholesale, Havells, LG Electronics, Dr. Reddy's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36208" y="3456432"/>
            <a:ext cx="2322576" cy="932688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9" name="Text 27"/>
          <p:cNvSpPr/>
          <p:nvPr/>
        </p:nvSpPr>
        <p:spPr>
          <a:xfrm>
            <a:off x="6345936" y="35295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345936" y="3730752"/>
            <a:ext cx="212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contracts; identify backup suppliers and corrective plans.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Overview Page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329184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Executive Overview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715000" y="12344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Contents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153619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business KPIs as scorecards (On-Time Delivery, Avg Delay, Cost/Order, Fill Rate, Lead Time, Forecast MAPE, Defect Rate, Stockout Rate)</a:t>
            </a:r>
            <a:endParaRPr lang="en-US" sz="105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order volume trend (column + line combo)</a:t>
            </a:r>
            <a:endParaRPr lang="en-US" sz="1050" dirty="0"/>
          </a:p>
          <a:p>
            <a:pPr marL="152400" indent="-152400" algn="l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required slicers: Carrier, Region, Product Category, Order Date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15000" y="3520440"/>
            <a:ext cx="2971800" cy="10058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5852160" y="3611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16.48%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85216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0F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On-Time Delivery Rate (unfiltered) — matches the SQL/Excel analysis exactly.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3901097-A32B-2C4C-F896-BD68B8DD7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465897"/>
            <a:ext cx="5029200" cy="28289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KPI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Delivery, Cost &amp; Segmentation Pages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1828800"/>
          </a:xfrm>
          <a:prstGeom prst="rect">
            <a:avLst/>
          </a:prstGeom>
          <a:solidFill>
            <a:srgbClr val="F8FAFC"/>
          </a:solidFill>
          <a:ln w="1587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1554480" y="17830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1645920" cy="201168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Delivery Performance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352958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delay by carrier &amp; product category; distance-vs-delay scatter by carrier.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64408" y="1234440"/>
            <a:ext cx="2651760" cy="1828800"/>
          </a:xfrm>
          <a:prstGeom prst="rect">
            <a:avLst/>
          </a:prstGeom>
          <a:solidFill>
            <a:srgbClr val="F8FAFC"/>
          </a:solidFill>
          <a:ln w="1587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Shape 9"/>
          <p:cNvSpPr/>
          <p:nvPr/>
        </p:nvSpPr>
        <p:spPr>
          <a:xfrm>
            <a:off x="4361688" y="17830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3767328" y="2377440"/>
            <a:ext cx="1645920" cy="201168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3264408" y="2697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64408" y="3200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Analysis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64408" y="352958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value by region &amp; carrier (stacked); shipping cost by product category.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71616" y="1234440"/>
            <a:ext cx="2651760" cy="1828800"/>
          </a:xfrm>
          <a:prstGeom prst="rect">
            <a:avLst/>
          </a:prstGeom>
          <a:solidFill>
            <a:srgbClr val="F8FAFC"/>
          </a:solidFill>
          <a:ln w="1587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en-IN" dirty="0"/>
          </a:p>
        </p:txBody>
      </p:sp>
      <p:sp>
        <p:nvSpPr>
          <p:cNvPr id="17" name="Shape 15"/>
          <p:cNvSpPr/>
          <p:nvPr/>
        </p:nvSpPr>
        <p:spPr>
          <a:xfrm>
            <a:off x="7168896" y="17830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8" name="Shape 16"/>
          <p:cNvSpPr/>
          <p:nvPr/>
        </p:nvSpPr>
        <p:spPr>
          <a:xfrm>
            <a:off x="6574536" y="2377440"/>
            <a:ext cx="1645920" cy="201168"/>
          </a:xfrm>
          <a:prstGeom prst="rect">
            <a:avLst/>
          </a:prstGeom>
          <a:solidFill>
            <a:srgbClr val="CCFBF1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9" name="Text 17"/>
          <p:cNvSpPr/>
          <p:nvPr/>
        </p:nvSpPr>
        <p:spPr>
          <a:xfrm>
            <a:off x="6071616" y="2697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71616" y="32004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Segmentation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71616" y="3529584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 vs. lead time scatter; persona cards with recommendations.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398E608-7B6F-CA0E-DD9D-201C45194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9" y="1403032"/>
            <a:ext cx="2651760" cy="149161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B68D70D-7885-F14E-8661-33A11182F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03032"/>
            <a:ext cx="2651761" cy="149161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AA8D3B6-2D16-E4A9-1A4D-67EBEF1B9B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16" y="1403031"/>
            <a:ext cx="2651761" cy="14916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 &amp; Business Insights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508760" y="1463040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691640" y="13898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Carrier choice dominates delay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70078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DHL averages 1.35 days delay (48% on-time); XpressBees averages 4.13 days (0.4% on-time) — a gap larger than any other modeled factor.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548640" y="2359152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508760" y="2542032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Delay is regional, not just carrier-driven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91640" y="27797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Northeast (1.3% on-time) and Northwest (4.8% on-time) underperform across all carriers — pointing to route/infrastructure issues, not vendor selection alone.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548640" y="3438144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1508760" y="3621024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1691640" y="354787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 matters; distance doesn't (much)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38587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kg of shipment weight adds ~0.03 days of delay; shipment distance is not statistically significant once carrier is controlled for.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 &amp; Business Insights (cont.)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508760" y="1463040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691640" y="138988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 forecasting needs a different approach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70078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SKU forecasts show 4.96% MAPE — demand is too volatile for simple time-series methods; safety stock should drive near-term planning.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548640" y="2359152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508760" y="2542032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Supplier quality is unevenly distributed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91640" y="27797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15 suppliers (one-third) fall into the Critical cluster on lead time and defect rate — a concentrated, addressable risk.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548640" y="3438144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1508760" y="3621024"/>
            <a:ext cx="18288" cy="59436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1691640" y="354787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 and stockout rates are the largest gaps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38587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rate (9.91% vs. 2% target) and stockout rate (44.28% vs. 3% target) are furthest from target — bigger gaps than delivery delay itself.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Prioritized by Impact vs. Effort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axis = business impact  ·  Horizontal axis = implementation effort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3383280" cy="15544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1033272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Wins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33272" y="1709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IMPACT · LOW EFFORT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33272" y="19659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Shift carrier volume on worst routes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Raise safety stock for top-20 SKUs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Add weight-based shipping surcharge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325880"/>
            <a:ext cx="3383280" cy="155448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4599432" y="14356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Strategic Bets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99432" y="1709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IMPACT · HIGH EFFORT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99432" y="19659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Replace / renegotiate Critical suppliers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Investigate NE / NW infrastructure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Audit the order-defect pipeline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" y="2971800"/>
            <a:ext cx="3383280" cy="155448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4" name="Text 12"/>
          <p:cNvSpPr/>
          <p:nvPr/>
        </p:nvSpPr>
        <p:spPr>
          <a:xfrm>
            <a:off x="1033272" y="3081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Build-On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33272" y="33558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 IMPACT · LOW EFFORT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33272" y="36118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Pilot fill-rate program with Preferred suppliers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2971800"/>
            <a:ext cx="33832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" name="Text 16"/>
          <p:cNvSpPr/>
          <p:nvPr/>
        </p:nvSpPr>
        <p:spPr>
          <a:xfrm>
            <a:off x="4599432" y="30815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99432" y="335584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LOWER PRIORITY · REVISIT LATER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99432" y="36118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current recommendations in this quadrant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01000" y="1325880"/>
            <a:ext cx="0" cy="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Detail &amp; Expected Outcomes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07008"/>
          <a:ext cx="8229600" cy="330098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#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Recommendation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 it matters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1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volume from XpressBees/DTDC to DHL/FedEx on worst routes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Improves on-time rate toward the 90% target without new infrastructure spend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Renegotiate or replace the 5 Critical 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defect and lead-time risk concentrated in one-third of the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Investigate Northeast/Northwest delivery infrastructure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Addresses delay that persists across all carriers in these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4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safety stock for top-20 SKUs given ~77% forecast MAPE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Reduces stockout rate without waiting for a more accurate forecast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weight-based shipping surcharge or repacking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Recovers cost from the +0.026 days/kg delay relationship in the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6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the order-defect pipeline (9.91% vs. 2% target)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 the single largest KPI gap on the 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7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a fill-rate improvement program with Preferred 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on proven reliability before extending to riskier suppliers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WRAP-UP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 &amp; Future Scope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4023360" cy="5029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9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explains ~17% of delay variance (R² = 0.173); unmeasured factors (warehouse handling, customs) likely explain more.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SKU-level forecasts (MAPE 76–84%) are not yet reliable enough for automated reorder triggers.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K-Means was computed manually on just 15 suppliers, so cluster boundaries are sensitive to individual outliers.</a:t>
            </a:r>
            <a:endParaRPr lang="en-US" sz="1050" dirty="0"/>
          </a:p>
          <a:p>
            <a:pPr marL="152400" indent="-152400" algn="l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Python forecasting/clustering libraries used, per guidelines — all analysis is Excel/SQL/Power BI native.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23360" cy="502920"/>
          </a:xfrm>
          <a:prstGeom prst="rect">
            <a:avLst/>
          </a:prstGeom>
          <a:solidFill>
            <a:srgbClr val="F0FD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4846320" y="12344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46320" y="187452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promotional calendars and seasonality indices into the demand model.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regression to include warehouse dwell time once that data is captured.</a:t>
            </a:r>
            <a:endParaRPr lang="en-US" sz="105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supplier K-Means (with a fuller elbow / silhouette sweep) once the supplier base grows beyond ~15.</a:t>
            </a:r>
            <a:endParaRPr lang="en-US" sz="1050" dirty="0"/>
          </a:p>
          <a:p>
            <a:pPr marL="152400" indent="-152400" algn="l"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monthly refresh of the Power BI dashboard once a live data connection is available.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Intelligence Project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0974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 &amp; APPENDIX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Internal capstone dataset provided for academic/training purposes (GUVI / HCL Supply Chain Analytics Capstone) — not a public dataset URL, per project guidelines.</a:t>
            </a:r>
            <a:endParaRPr lang="en-US" sz="1200" dirty="0"/>
          </a:p>
          <a:p>
            <a:pPr marL="152400" indent="-152400" algn="l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files: cleaned Excel workbook with documented transformation &amp; analysis sheets; SQL scripts for schema, extraction, aggregation &amp; window-function queries; Power BI dashboard (.pbix) with 5 interactive pages.</a:t>
            </a:r>
            <a:endParaRPr lang="en-US" sz="1200" dirty="0"/>
          </a:p>
          <a:p>
            <a:pPr marL="152400" indent="-152400" algn="l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analytics detail is documented in the accompanying PDF report.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" y="3063240"/>
            <a:ext cx="1828800" cy="3200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804672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2494</Words>
  <Application>Microsoft Office PowerPoint</Application>
  <PresentationFormat>On-screen Show (16:9)</PresentationFormat>
  <Paragraphs>413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Harsha Kardile</dc:creator>
  <cp:lastModifiedBy>Harsha Kardile</cp:lastModifiedBy>
  <cp:revision>4</cp:revision>
  <dcterms:created xsi:type="dcterms:W3CDTF">2026-06-21T15:44:03Z</dcterms:created>
  <dcterms:modified xsi:type="dcterms:W3CDTF">2026-10-04T20:09:35Z</dcterms:modified>
</cp:coreProperties>
</file>