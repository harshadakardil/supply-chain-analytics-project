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87" d="100"/>
          <a:sy n="87" d="100"/>
        </p:scale>
        <p:origin x="2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Delay</c:v>
                </c:pt>
              </c:strCache>
            </c:strRef>
          </c:tx>
          <c:spPr>
            <a:solidFill>
              <a:srgbClr val="15803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366-4614-8E39-849373B9C370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366-4614-8E39-849373B9C370}"/>
              </c:ext>
            </c:extLst>
          </c:dPt>
          <c:dPt>
            <c:idx val="2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366-4614-8E39-849373B9C370}"/>
              </c:ext>
            </c:extLst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366-4614-8E39-849373B9C370}"/>
              </c:ext>
            </c:extLst>
          </c:dPt>
          <c:dPt>
            <c:idx val="4"/>
            <c:invertIfNegative val="0"/>
            <c:bubble3D val="0"/>
            <c:spPr>
              <a:solidFill>
                <a:srgbClr val="B91C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366-4614-8E39-849373B9C370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F172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DHL</c:v>
                </c:pt>
                <c:pt idx="1">
                  <c:v>FedEx</c:v>
                </c:pt>
                <c:pt idx="2">
                  <c:v>UPS</c:v>
                </c:pt>
                <c:pt idx="3">
                  <c:v>Blue Dart</c:v>
                </c:pt>
                <c:pt idx="4">
                  <c:v>XpressBees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1.35</c:v>
                </c:pt>
                <c:pt idx="1">
                  <c:v>1.58</c:v>
                </c:pt>
                <c:pt idx="2">
                  <c:v>2.14</c:v>
                </c:pt>
                <c:pt idx="3">
                  <c:v>2.34</c:v>
                </c:pt>
                <c:pt idx="4">
                  <c:v>4.13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366-4614-8E39-849373B9C37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MAPE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E5B-4016-B00A-42F73C1C8BE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E5B-4016-B00A-42F73C1C8BE8}"/>
              </c:ext>
            </c:extLst>
          </c:dPt>
          <c:dPt>
            <c:idx val="2"/>
            <c:invertIfNegative val="0"/>
            <c:bubble3D val="0"/>
            <c:spPr>
              <a:solidFill>
                <a:srgbClr val="B4530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E5B-4016-B00A-42F73C1C8BE8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F172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Moving Avg</c:v>
                </c:pt>
                <c:pt idx="1">
                  <c:v>Exp. Smoothing</c:v>
                </c:pt>
                <c:pt idx="2">
                  <c:v>Target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76.7</c:v>
                </c:pt>
                <c:pt idx="1">
                  <c:v>83.5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E5B-4016-B00A-42F73C1C8BE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8753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863840" y="640080"/>
            <a:ext cx="914400" cy="9144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183880" y="502920"/>
            <a:ext cx="146304" cy="146304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635240" y="566928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1430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SUPPLY CHAIN / LOGISTICS   •   CAPSTONE ANALYTICS PROJECT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481328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Supply Chain Intelligence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239572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Delivery Performance and Demand Forecasting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41248" y="3035808"/>
            <a:ext cx="1828800" cy="3200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960" y="33101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5112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Harshada Kardile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387705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40782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June 2026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33101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35112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 ·  SQL  ·  Power BI  ·  Statistical Analysis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 &amp; Objectives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growing e-commerce retailer faces a severe on-time delivery shortfall, rising logistics costs, and frequent stockouts during peak demand.</a:t>
            </a:r>
            <a:endParaRPr lang="en-US" sz="1250" dirty="0"/>
          </a:p>
          <a:p>
            <a:pPr marL="177800" indent="-177800" algn="l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tasked the analytics team with finding the key drivers behind these issues using the full order, supplier, and inventory dataset.</a:t>
            </a:r>
            <a:endParaRPr lang="en-US" sz="1250" dirty="0"/>
          </a:p>
          <a:p>
            <a:pPr marL="177800" indent="-177800" algn="l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10,000 orders · 15 suppliers · 6,000 monthly inventory records · 200 SKUs — analyzed end-to-end in Excel, SQL, and Power BI.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257800" y="1188720"/>
            <a:ext cx="342900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349240" y="118872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-15%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236208" y="11887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delivery delays within two quarters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257800" y="1847088"/>
            <a:ext cx="342900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349240" y="184708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-10%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236208" y="184708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logistics cost per order within two quarters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257800" y="2505456"/>
            <a:ext cx="342900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349240" y="2505456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Fewer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236208" y="250545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Stockouts during peak demand periods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310128"/>
            <a:ext cx="822960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341985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USE CASES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7124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performance analysis by carrier, route &amp; category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37124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SKU-level demand forecasting (4–8 week horizon)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400507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segmentation by lead time, defect rate &amp; cost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400507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attribution by region, carrier &amp; product category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42976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analysis of delay drivers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Intelligence Project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22960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Problem &amp; Stakeholder Map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84124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7772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16.48% on-time delivery, </a:t>
            </a: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logistics cost ($325.52/order), and a 44.28% stockout rate are putting peak-season revenue and customer retention at risk.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4023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82296" cy="10789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85800" y="23500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Leadership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15% delay and 10% cost targets; needs the Executive Overview KPI page.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2240280"/>
            <a:ext cx="4023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63440" y="2240280"/>
            <a:ext cx="82296" cy="10789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92040" y="23500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Logistics &amp; Carrier Ops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2697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carrier contracts and routing; needs the Delivery Performance breakdown.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4023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82296" cy="10789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85800" y="35387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Inventory &amp; Warehouse Teams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886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stock levels and reorder points; needs the Demand Forecast page.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429000"/>
            <a:ext cx="4023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663440" y="3429000"/>
            <a:ext cx="82296" cy="10789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92040" y="35387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Procurement / Supplier Mgmt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3886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supplier contracts; needs the Supplier Segmentation personas.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Intelligence Project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22960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FOUNDATION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</a:t>
            </a:r>
            <a:endParaRPr lang="en-US" sz="2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8229600" cy="1865376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Sheet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Rows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Cols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Description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transactional data — orders, deliveries, costs, delays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performance metrics for cluster analysis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stock levels for 200 SKUs across 30 months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Monthly_KPI_Summary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Pre-aggregated KPIs by month for dashboard 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Data_Dictionary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fields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definitions for all columns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457200" y="3246120"/>
            <a:ext cx="4846320" cy="13716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40080" y="33375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QUALITY AUDIT — ORDERS TABLE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40080" y="36118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duplicate Order_IDs across 10,000 rows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40080" y="38587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null values in any Orders column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41056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fully duplicate rows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40080" y="435254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&amp; region fields standardized (8 carriers, 7 regions)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0" y="3246120"/>
            <a:ext cx="3200400" cy="137160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650992" y="333756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 ON DATA CONDITION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650992" y="3611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Supplied in a pre-cleaned analytical state. Wrangling focused on derived columns, pivot summaries, and SQL schema design rather than repairing messy raw data — documented here for transparency.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Intelligence Project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22960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QUALITY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Quality Findings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85800" y="1545336"/>
            <a:ext cx="310896" cy="310896"/>
          </a:xfrm>
          <a:prstGeom prst="ellipse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545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Completeness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194767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across Order_ID, dates, carrier, region, cost, or delay fields in the cleaned Orders table.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892040" y="1545336"/>
            <a:ext cx="310896" cy="310896"/>
          </a:xfrm>
          <a:prstGeom prst="ellipse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92040" y="1545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21808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Uniqueness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892040" y="194767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is unique across all 10,000 rows; no duplicate transactions detected.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07208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85800" y="3026664"/>
            <a:ext cx="310896" cy="310896"/>
          </a:xfrm>
          <a:prstGeom prst="ellipse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85800" y="3026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15568" y="29900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Consistency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85800" y="34290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names (8 distinct) and region labels (7 distinct) are standardized with no spelling variants.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807208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92040" y="3026664"/>
            <a:ext cx="310896" cy="310896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92040" y="3026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321808" y="29900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Schema mismatch found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892040" y="34290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SQL inventory schema did not match the final cleaned Inventory columns; corrected before submission.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Intelligence Project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22960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EXCEL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Excel Analysis Highlights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Calculated Columns Added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17904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 Days — actual vs. promised delivery date</a:t>
            </a:r>
            <a:endParaRPr lang="en-US" sz="115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— purchase order to goods receipt, by supplier</a:t>
            </a:r>
            <a:endParaRPr lang="en-US" sz="1150" dirty="0"/>
          </a:p>
          <a:p>
            <a:pPr marL="177800" indent="-177800" algn="l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Unit Shipped — shipping cost ÷ order quantity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Pivot Table Summaries Built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889504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delay and order count by carrier</a:t>
            </a:r>
            <a:endParaRPr lang="en-US" sz="115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value and shipping cost by region &amp; carrier</a:t>
            </a:r>
            <a:endParaRPr lang="en-US" sz="1150" dirty="0"/>
          </a:p>
          <a:p>
            <a:pPr marL="177800" indent="-177800" algn="l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totals by product category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pivot detail available in the Pivot_Tables sheet of the cleaned workbook.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488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Avg Delay by Carrier (days)</a:t>
            </a:r>
            <a:endParaRPr lang="en-US" sz="125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4617720" y="1508760"/>
          <a:ext cx="416052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4617720" y="3977640"/>
            <a:ext cx="416052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754880" y="397764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rate spans </a:t>
            </a: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47.9% (DHL)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down to </a:t>
            </a: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0.4% (XpressBees)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Intelligence Project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22960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Analysis Highlights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7033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" cy="9875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58368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Extraction Queries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161848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filtered by date range, carrier, and region to support targeted root-cause checks.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37033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82296" cy="9875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58368" y="2423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Aggregation Queries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71576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performance: shipments, avg delay, delay std. dev., on-time %, and unit shipping cost — grouped by carrier.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37033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82296" cy="9875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58368" y="3520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Window Functions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" y="381304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DENSE_RANK() flags the 2 worst carriers per region; rolling 3-month AVG() tracks SKU demand trend.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89120" y="1234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Query — Regional Carrier Ranking (DENSE_RANK)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89120" y="1536192"/>
            <a:ext cx="4297680" cy="3017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72000" y="1664208"/>
            <a:ext cx="40233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RegionalCarrierPerformance AS (</a:t>
            </a:r>
            <a:endParaRPr lang="en-US" sz="9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region, carrier,</a:t>
            </a:r>
            <a:endParaRPr lang="en-US" sz="9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COUNT(order_id) AS shipment_volume,</a:t>
            </a:r>
            <a:endParaRPr lang="en-US" sz="9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ROUND(AVG(delivery_delay_days),2)</a:t>
            </a:r>
            <a:endParaRPr lang="en-US" sz="9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AS average_transit_delay,</a:t>
            </a:r>
            <a:endParaRPr lang="en-US" sz="9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DENSE_RANK() OVER (</a:t>
            </a:r>
            <a:endParaRPr lang="en-US" sz="9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PARTITION BY region</a:t>
            </a:r>
            <a:endParaRPr lang="en-US" sz="9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ORDER BY AVG(delivery_delay_days) DESC)</a:t>
            </a:r>
            <a:endParaRPr lang="en-US" sz="9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AS performance_rank</a:t>
            </a:r>
            <a:endParaRPr lang="en-US" sz="9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orders</a:t>
            </a:r>
            <a:endParaRPr lang="en-US" sz="9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region, carrier )</a:t>
            </a:r>
            <a:endParaRPr lang="en-US" sz="9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RegionalCarrierPerformance</a:t>
            </a:r>
            <a:endParaRPr lang="en-US" sz="9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performance_rank &lt;= 2</a:t>
            </a:r>
            <a:endParaRPr lang="en-US" sz="9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region, performance_rank;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Intelligence Project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22960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ANALYTICS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04672" y="777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Methods Implemented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13533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methods required by the project brief — all three completed.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2331720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22960" y="1920240"/>
            <a:ext cx="233172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24128" y="20848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24128" y="23591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A. Delivery Delay Regression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24128" y="3054096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 predicting Delivery_Delay_Days from weight, distance, carrier, category, season &amp; warehouse.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920240"/>
            <a:ext cx="2331720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383280" y="1920240"/>
            <a:ext cx="233172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584448" y="20848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584448" y="23591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B. Time-Series Demand Forecasting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84448" y="3054096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Average and Exponential Smoothing applied to the top-20 SKUs by total units sold.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1920240"/>
            <a:ext cx="2331720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943600" y="1920240"/>
            <a:ext cx="2331720" cy="54864"/>
          </a:xfrm>
          <a:prstGeom prst="rect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144768" y="20848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ALSO COMPLETED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44768" y="23591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C. Supplier &amp; Route Segmentation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44768" y="3054096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clustering across lead time, defect rate &amp; fill rate — a 3rd method beyond the 2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ANALYTICS · REGRESSION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Regression Model — Results &amp; Evaluation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38528" cy="84124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0.173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(model fit)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32888" y="1188720"/>
            <a:ext cx="1938528" cy="84124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532888" y="128016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0.171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32888" y="1664208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R²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08576" y="1188720"/>
            <a:ext cx="1938528" cy="84124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08576" y="128016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2.07 days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08576" y="1664208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684264" y="1188720"/>
            <a:ext cx="1938528" cy="84124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684264" y="128016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1.41 days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84264" y="1664208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2212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Strongest Delay Drivers (vs. Aramex baseline carrier)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05456"/>
          <a:ext cx="8229600" cy="1801368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Variable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Effect on Delay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Interpretation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Carrier: DHL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−1.74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Significantly faster than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Carrier: FedEx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−1.51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Significantly faster than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Carrier: XpressBees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+1.05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Significantly slower than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Shipment 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+0.026 days/kg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extra kg adds delay, all else equal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Shipment Distance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0.40 — distance alone does not predict delay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4407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choice is the dominant driver of delay — far larger than weight or distance.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Intelligence Project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22960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ANALYTICS · FORECASTING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 Forecasting — Results &amp; Evaluation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SKUs (by total units sold) forecasted using a 3-month Moving Average and Exponential Smoothing (α = 0.30).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Avg MAPE by Method vs. Target</a:t>
            </a:r>
            <a:endParaRPr lang="en-US" sz="12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874520"/>
          <a:ext cx="411480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709160" y="1572768"/>
            <a:ext cx="3977640" cy="2971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892040" y="1700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Honest finding, not a hidden failure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892040" y="2029968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methods fall well short of the 15% MAPE target — reported transparently rather than tuned to look better.</a:t>
            </a:r>
            <a:endParaRPr lang="en-US" sz="110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SKU-level monthly demand is highly volatile and intermittent; simple time-series methods can't capture these swings.</a:t>
            </a:r>
            <a:endParaRPr lang="en-US" sz="1100" dirty="0"/>
          </a:p>
          <a:p>
            <a:pPr marL="177800" indent="-177800" algn="l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near-term inventory should rely on safety stock and reorder points, not point forecasts alone.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Intelligence Project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22960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Supplier Segmentation — Method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225296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15 suppliers </a:t>
            </a:r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</a:t>
            </a:r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features</a:t>
            </a:r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Time, Defect Rate, Fill Rate</a:t>
            </a:r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Cost per Unit) so each weighs equally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marL="177800" indent="-177800" algn="l"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run by hand in Excel: seed centroids from risk-sorted suppliers, assign each to its nearest centroid, recompute, and repeat until stable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marL="177800" indent="-177800" algn="l">
              <a:buSzPct val="100000"/>
              <a:buChar char="•"/>
            </a:pPr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selected with the Elbow Method on Within-Cluster Sum of Squares (WCSS) — the sharp drop ends at K=3, so K=3 is retained: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Partner</a:t>
            </a:r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Under Watch</a:t>
            </a:r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Critical.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880360"/>
            <a:ext cx="4572000" cy="169164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298094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K-MEANS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3236976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</a:t>
            </a:r>
            <a:r>
              <a:rPr lang="en-US" sz="10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</a:t>
            </a:r>
            <a:r>
              <a:rPr lang="en-US" sz="105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by hand </a:t>
            </a:r>
            <a:r>
              <a:rPr lang="en-US" sz="10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Excel (no Python / clustering libraries permitted). </a:t>
            </a:r>
            <a:r>
              <a:rPr lang="en-US" sz="105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Centroids and assignments were iterated to convergence manually</a:t>
            </a:r>
            <a:r>
              <a:rPr lang="en-US" sz="10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K=3 was confirmed with an elbow-method check on within-cluster sum of squares — </a:t>
            </a:r>
            <a:r>
              <a:rPr lang="en-US" sz="10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</a:t>
            </a:r>
            <a:r>
              <a:rPr lang="en-US" sz="105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</a:t>
            </a:r>
            <a:r>
              <a:rPr lang="en-US" sz="10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r>
              <a:rPr lang="en-US" sz="105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workbook</a:t>
            </a:r>
            <a:r>
              <a:rPr lang="en-US" sz="10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8" name="Elbow Header"/>
          <p:cNvSpPr/>
          <p:nvPr/>
        </p:nvSpPr>
        <p:spPr>
          <a:xfrm>
            <a:off x="5257800" y="122529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Elbow Method — WCSS</a:t>
            </a:r>
            <a:endParaRPr lang="en-US" sz="1300"/>
          </a:p>
        </p:txBody>
      </p:sp>
      <p:graphicFrame>
        <p:nvGraphicFramePr>
          <p:cNvPr id="9" name="WCS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895245"/>
              </p:ext>
            </p:extLst>
          </p:nvPr>
        </p:nvGraphicFramePr>
        <p:xfrm>
          <a:off x="5257800" y="1554480"/>
          <a:ext cx="342900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FFFFF"/>
                          </a:solidFill>
                          <a:latin typeface="Trebuchet MS" pitchFamily="34" charset="0"/>
                        </a:rPr>
                        <a:t>K</a:t>
                      </a:r>
                    </a:p>
                  </a:txBody>
                  <a:tcPr marL="45720" marR="45720" marT="27432" marB="27432" anchor="ctr">
                    <a:lnB w="9525">
                      <a:solidFill>
                        <a:srgbClr val="CBD5E1"/>
                      </a:solidFill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FFFFF"/>
                          </a:solidFill>
                          <a:latin typeface="Trebuchet MS" pitchFamily="34" charset="0"/>
                        </a:rPr>
                        <a:t>WCSS</a:t>
                      </a:r>
                    </a:p>
                  </a:txBody>
                  <a:tcPr marL="45720" marR="45720" marT="27432" marB="27432" anchor="ctr">
                    <a:lnB w="9525">
                      <a:solidFill>
                        <a:srgbClr val="CBD5E1"/>
                      </a:solidFill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334155"/>
                          </a:solidFill>
                          <a:latin typeface="Calibri" pitchFamily="34" charset="0"/>
                        </a:rPr>
                        <a:t>1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334155"/>
                          </a:solidFill>
                          <a:latin typeface="Calibri" pitchFamily="34" charset="0"/>
                        </a:rPr>
                        <a:t>15.4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334155"/>
                          </a:solidFill>
                          <a:latin typeface="Calibri" pitchFamily="34" charset="0"/>
                        </a:rPr>
                        <a:t>2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334155"/>
                          </a:solidFill>
                          <a:latin typeface="Calibri" pitchFamily="34" charset="0"/>
                        </a:rPr>
                        <a:t>8.7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F766E"/>
                          </a:solidFill>
                          <a:latin typeface="Calibri" pitchFamily="34" charset="0"/>
                        </a:rPr>
                        <a:t>3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F766E"/>
                          </a:solidFill>
                          <a:latin typeface="Calibri" pitchFamily="34" charset="0"/>
                        </a:rPr>
                        <a:t>4.3  ← elbow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CCF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334155"/>
                          </a:solidFill>
                          <a:latin typeface="Calibri" pitchFamily="34" charset="0"/>
                        </a:rPr>
                        <a:t>4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334155"/>
                          </a:solidFill>
                          <a:latin typeface="Calibri" pitchFamily="34" charset="0"/>
                        </a:rPr>
                        <a:t>3.9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Elbow Caption"/>
          <p:cNvSpPr/>
          <p:nvPr/>
        </p:nvSpPr>
        <p:spPr>
          <a:xfrm>
            <a:off x="5257800" y="326898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WCSS drop ends at K=3 (4.3); K=4 improves only to 3.9 — marginal. K=3 selected.</a:t>
            </a:r>
            <a:endParaRPr lang="en-US" sz="1000"/>
          </a:p>
        </p:txBody>
      </p:sp>
      <p:sp>
        <p:nvSpPr>
          <p:cNvPr id="11" name="Features Strip"/>
          <p:cNvSpPr/>
          <p:nvPr/>
        </p:nvSpPr>
        <p:spPr>
          <a:xfrm>
            <a:off x="5257800" y="3776472"/>
            <a:ext cx="3429000" cy="7315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  <p:txBody>
          <a:bodyPr wrap="square" lIns="118872" tIns="91440" rIns="118872" bIns="91440" rtlCol="0" anchor="t"/>
          <a:lstStyle/>
          <a:p>
            <a:pPr marL="0" indent="0" algn="l">
              <a:buNone/>
            </a:pPr>
            <a:r>
              <a:rPr lang="en-US" sz="900" b="1" spc="10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DISTANCE FEATURES (Z-SCORED)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· Defect Rate · Fill Rate · Cost per Unit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Intelligence Project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22960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SUPPLIER SEGMENTATION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 Personas &amp; Recommendations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51760" cy="566928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Preferred Partner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1792" y="1901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SUPPLIERS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22128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SUPPLIERS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" y="2432304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 India, Samsung Logistics, Godrej, Dabur, Asian Paints, Cipla Pharma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" y="3456432"/>
            <a:ext cx="2322576" cy="93268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31520" y="35295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3730752"/>
            <a:ext cx="2121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order volume; candidates for long-term contracts.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64408" y="123444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64408" y="1234440"/>
            <a:ext cx="2651760" cy="566928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401568" y="12344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 Watch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29000" y="1901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SUPPLIERS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22128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SUPPLIERS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2432304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Industries, Mahindra Logistics, Amazon Seller Svcs, ITC Agri-Business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29000" y="3456432"/>
            <a:ext cx="2322576" cy="93268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538728" y="35295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538728" y="3730752"/>
            <a:ext cx="2121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monthly; set improvement checkpoints before renewal.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71616" y="123444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071616" y="1234440"/>
            <a:ext cx="2651760" cy="566928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208776" y="12344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36208" y="1901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SUPPLIERS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36208" y="22128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SUPPLIERS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36208" y="2432304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Supply Co., Flipkart Wholesale, Havells, LG Electronics, Dr. Reddy's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36208" y="3456432"/>
            <a:ext cx="2322576" cy="93268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345936" y="35295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45936" y="3730752"/>
            <a:ext cx="2121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contracts; identify backup suppliers and corrective plans.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Intelligence Project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22960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KPI DASHBOARD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Overview Page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329184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Executive Overview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715000" y="12344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 Contents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1536192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business KPIs as scorecards (On-Time Delivery, Avg Delay, Cost/Order, Fill Rate, Lead Time, Forecast MAPE, Defect Rate, Stockout Rate)</a:t>
            </a:r>
            <a:endParaRPr lang="en-US" sz="10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order volume trend (column + line combo)</a:t>
            </a:r>
            <a:endParaRPr lang="en-US" sz="1050" dirty="0"/>
          </a:p>
          <a:p>
            <a:pPr marL="152400" indent="-152400" algn="l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required slicers: Carrier, Region, Product Category, Order Date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15000" y="3520440"/>
            <a:ext cx="2971800" cy="10058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852160" y="36118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16.48%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852160" y="4023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F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On-Time Delivery Rate (unfiltered) — matches the SQL/Excel analysis exactly.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Intelligence Project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22960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3901097-A32B-2C4C-F896-BD68B8DD7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1234440"/>
            <a:ext cx="5029200" cy="329183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KPI DASHBOARD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Delivery, Cost &amp; Segmentation Pages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1828800"/>
          </a:xfrm>
          <a:prstGeom prst="rect">
            <a:avLst/>
          </a:prstGeom>
          <a:solidFill>
            <a:srgbClr val="F8FAFC"/>
          </a:solidFill>
          <a:ln w="15875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554480" y="1783080"/>
            <a:ext cx="457200" cy="457200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60120" y="2377440"/>
            <a:ext cx="1645920" cy="201168"/>
          </a:xfrm>
          <a:prstGeom prst="rect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Performance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3529584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delay by carrier &amp; product category; distance-vs-delay scatter by carrier.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64408" y="1234440"/>
            <a:ext cx="2651760" cy="1828800"/>
          </a:xfrm>
          <a:prstGeom prst="rect">
            <a:avLst/>
          </a:prstGeom>
          <a:solidFill>
            <a:srgbClr val="F8FAFC"/>
          </a:solidFill>
          <a:ln w="15875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361688" y="1783080"/>
            <a:ext cx="457200" cy="457200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767328" y="2377440"/>
            <a:ext cx="1645920" cy="201168"/>
          </a:xfrm>
          <a:prstGeom prst="rect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64408" y="26974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64408" y="32004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Analysis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264408" y="3529584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value by region &amp; carrier (stacked); shipping cost by product category.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71616" y="1234440"/>
            <a:ext cx="2651760" cy="1828800"/>
          </a:xfrm>
          <a:prstGeom prst="rect">
            <a:avLst/>
          </a:prstGeom>
          <a:solidFill>
            <a:srgbClr val="F8FAFC"/>
          </a:solidFill>
          <a:ln w="15875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168896" y="1783080"/>
            <a:ext cx="457200" cy="457200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574536" y="2377440"/>
            <a:ext cx="1645920" cy="201168"/>
          </a:xfrm>
          <a:prstGeom prst="rect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071616" y="26974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71616" y="32004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Supplier Segmentation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71616" y="3529584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rate vs. lead time scatter; persona cards with recommendations.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Intelligence Project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22960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398E608-7B6F-CA0E-DD9D-201C45194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9" y="1234440"/>
            <a:ext cx="2651760" cy="18288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B68D70D-7885-F14E-8661-33A11182F6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1234440"/>
            <a:ext cx="2651761" cy="182879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AA8D3B6-2D16-E4A9-1A4D-67EBEF1B9B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1616" y="1234439"/>
            <a:ext cx="2651761" cy="18287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 &amp; Business Insights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508760" y="1463040"/>
            <a:ext cx="18288" cy="5943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691640" y="1389888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Carrier choice dominates delay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91640" y="170078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DHL averages 1.35 days delay (48% on-time); XpressBees averages 4.13 days (0.4% on-time) — a gap larger than any other modeled factor.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59152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2359152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1508760" y="2542032"/>
            <a:ext cx="18288" cy="5943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691640" y="246888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Delay is regional, not just carrier-driven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91640" y="277977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 (1.3% on-time) and Northwest (4.8% on-time) underperform across all carriers — pointing to route/infrastructure issues, not vendor selection alone.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38144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3438144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1508760" y="3621024"/>
            <a:ext cx="18288" cy="5943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691640" y="354787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Weight matters; distance doesn't (much)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91640" y="385876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extra kg of shipment weight adds ~0.03 days of delay; shipment distance is not statistically significant once carrier is controlled for.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Intelligence Project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22960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 &amp; Business Insights (cont.)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508760" y="1463040"/>
            <a:ext cx="18288" cy="5943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691640" y="1389888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 forecasting needs a different approach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91640" y="170078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Top-20 SKU forecasts show 4.96% MAPE — demand is too volatile for simple time-series methods; safety stock should drive near-term planning.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59152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2359152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1508760" y="2542032"/>
            <a:ext cx="18288" cy="5943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691640" y="246888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Supplier quality is unevenly distributed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91640" y="277977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15 suppliers (one-third) fall into the Critical cluster on lead time and defect rate — a concentrated, addressable risk.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38144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3438144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1508760" y="3621024"/>
            <a:ext cx="18288" cy="5943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691640" y="354787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Defect and stockout rates are the largest gaps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91640" y="385876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rate (9.91% vs. 2% target) and stockout rate (44.28% vs. 3% target) are furthest from target — bigger gaps than delivery delay itself.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Intelligence Project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22960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Prioritized by Impact vs. Effort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axis = business impact  ·  Horizontal axis = implementation effort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68680" y="1325880"/>
            <a:ext cx="3383280" cy="15544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33272" y="1435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Wins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33272" y="170992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IMPACT · LOW EFFORT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3272" y="19659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Shift carrier volume on worst routes</a:t>
            </a:r>
            <a:endParaRPr lang="en-US" sz="10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Raise safety stock for top-20 SKUs</a:t>
            </a:r>
            <a:endParaRPr lang="en-US" sz="10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Add weight-based shipping surcharge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34840" y="1325880"/>
            <a:ext cx="3383280" cy="155448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99432" y="1435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Strategic Bets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99432" y="170992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IMPACT · HIGH EFFORT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99432" y="19659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Replace / renegotiate Critical suppliers</a:t>
            </a:r>
            <a:endParaRPr lang="en-US" sz="10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Investigate NE / NW infrastructure</a:t>
            </a:r>
            <a:endParaRPr lang="en-US" sz="10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Audit the order-defect pipeline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8680" y="2971800"/>
            <a:ext cx="3383280" cy="155448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33272" y="3081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Build-On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33272" y="33558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 IMPACT · LOW EFFORT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33272" y="36118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Pilot fill-rate program with Preferred suppliers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34840" y="2971800"/>
            <a:ext cx="338328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99432" y="3081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99432" y="33558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LOWER PRIORITY · REVISIT LATER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99432" y="36118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current recommendations in this quadrant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01000" y="1325880"/>
            <a:ext cx="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Intelligence Project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22960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Detail &amp; Expected Outcomes</a:t>
            </a:r>
            <a:endParaRPr lang="en-US" sz="2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8229600" cy="3300984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#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Recommendation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Why it matters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volume from XpressBees/DTDC to DHL/FedEx on worst routes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Improves on-time rate toward the 90% target without new infrastructure spend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Renegotiate or replace the 5 Critical suppliers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Reduces defect and lead-time risk concentrated in one-third of the 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3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Investigate Northeast/Northwest delivery infrastructure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Addresses delay that persists across all carriers in these regions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4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Raise safety stock for top-20 SKUs given ~77% forecast MAPE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Reduces stockout rate without waiting for a more accurate forecast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5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weight-based shipping surcharge or repacking step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Recovers cost from the +0.026 days/kg delay relationship in the regression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6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the order-defect pipeline (9.91% vs. 2% target)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Closes the single largest KPI gap on the dashboard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7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a fill-rate improvement program with Preferred suppliers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Builds on proven reliability before extending to riskier suppliers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Intelligence Project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22960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WRAP-UP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&amp; Future Scope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50292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explains ~17% of delay variance (R² = 0.173); unmeasured factors (warehouse handling, customs) likely explain more.</a:t>
            </a:r>
            <a:endParaRPr lang="en-US" sz="10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SKU-level forecasts (MAPE 76–84%) are not yet reliable enough for automated reorder triggers.</a:t>
            </a:r>
            <a:endParaRPr lang="en-US" sz="10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K-Means was computed manually on just 15 suppliers, so cluster boundaries are sensitive to individual outliers.</a:t>
            </a:r>
            <a:endParaRPr lang="en-US" sz="1050" dirty="0"/>
          </a:p>
          <a:p>
            <a:pPr marL="152400" indent="-152400" algn="l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Python forecasting/clustering libraries used, per guidelines — all analysis is Excel/SQL/Power BI native.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023360" cy="502920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846320" y="1234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187452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promotional calendars and seasonality indices into the demand model.</a:t>
            </a:r>
            <a:endParaRPr lang="en-US" sz="10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regression to include warehouse dwell time once that data is captured.</a:t>
            </a:r>
            <a:endParaRPr lang="en-US" sz="105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K-Means </a:t>
            </a: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(with a fuller elbow / silhouette sweep) once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supplier base grows beyond ~15.</a:t>
            </a:r>
            <a:endParaRPr lang="en-US" sz="1050" dirty="0"/>
          </a:p>
          <a:p>
            <a:pPr marL="152400" indent="-152400" algn="l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automated monthly refresh of the Power BI dashboard once a live data connection is available.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Intelligence Project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 &amp; APPENDIX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7589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Internal capstone dataset provided for academic/training purposes (GUVI / HCL Supply Chain Analytics Capstone) — not a public dataset URL, per project guidelines.</a:t>
            </a:r>
            <a:endParaRPr lang="en-US" sz="1200" dirty="0"/>
          </a:p>
          <a:p>
            <a:pPr marL="152400" indent="-152400" algn="l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files: cleaned Excel workbook with documented transformation &amp; analysis sheets; SQL scripts for schema, extraction, aggregation &amp; window-function queries; Power BI dashboard (.pbix) with 5 interactive pages.</a:t>
            </a:r>
            <a:endParaRPr lang="en-US" sz="1200" dirty="0"/>
          </a:p>
          <a:p>
            <a:pPr marL="152400" indent="-152400" algn="l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analytics detail is documented in the accompanying PDF report.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41248" y="3063240"/>
            <a:ext cx="1828800" cy="3200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04672" y="3246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2408</Words>
  <Application>Microsoft Office PowerPoint</Application>
  <PresentationFormat>On-screen Show (16:9)</PresentationFormat>
  <Paragraphs>370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Harsha Kardile</dc:creator>
  <cp:lastModifiedBy>Harsha Kardile</cp:lastModifiedBy>
  <cp:revision>3</cp:revision>
  <dcterms:created xsi:type="dcterms:W3CDTF">2026-06-21T15:44:03Z</dcterms:created>
  <dcterms:modified xsi:type="dcterms:W3CDTF">2026-07-21T10:33:51Z</dcterms:modified>
</cp:coreProperties>
</file>